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9" r:id="rId1"/>
    <p:sldMasterId id="2147483741" r:id="rId2"/>
  </p:sldMasterIdLst>
  <p:sldIdLst>
    <p:sldId id="257" r:id="rId3"/>
    <p:sldId id="258" r:id="rId4"/>
    <p:sldId id="259" r:id="rId5"/>
    <p:sldId id="260" r:id="rId6"/>
    <p:sldId id="261" r:id="rId7"/>
    <p:sldId id="262" r:id="rId8"/>
    <p:sldId id="264" r:id="rId9"/>
    <p:sldId id="263"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F2F"/>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9" d="100"/>
          <a:sy n="69" d="100"/>
        </p:scale>
        <p:origin x="78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8A87A34-81AB-432B-8DAE-1953F412C126}" type="datetimeFigureOut">
              <a:rPr lang="en-US" smtClean="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60124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8A87A34-81AB-432B-8DAE-1953F412C126}" type="datetimeFigureOut">
              <a:rPr lang="en-US" smtClean="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23329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21060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8A87A34-81AB-432B-8DAE-1953F412C126}" type="datetimeFigureOut">
              <a:rPr lang="en-US" smtClean="0"/>
              <a:t>11/25/2025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53449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8A87A34-81AB-432B-8DAE-1953F412C126}" type="datetimeFigureOut">
              <a:rPr lang="en-US" smtClean="0"/>
              <a:t>11/25/2025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74736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8A87A34-81AB-432B-8DAE-1953F412C126}" type="datetimeFigureOut">
              <a:rPr lang="en-US" smtClean="0"/>
              <a:t>11/25/2025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69721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11/25/2025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84997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85792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24935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8A87A34-81AB-432B-8DAE-1953F412C126}" type="datetimeFigureOut">
              <a:rPr lang="en-US" smtClean="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46899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8A87A34-81AB-432B-8DAE-1953F412C126}" type="datetimeFigureOut">
              <a:rPr lang="en-US" smtClean="0"/>
              <a:pPr/>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413078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8A87A34-81AB-432B-8DAE-1953F412C126}" type="datetimeFigureOut">
              <a:rPr lang="en-US" smtClean="0"/>
              <a:t>11/25/2025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17835901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243392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48A87A34-81AB-432B-8DAE-1953F412C126}" type="datetimeFigureOut">
              <a:rPr lang="en-US" smtClean="0"/>
              <a:pPr/>
              <a:t>11/25/2025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39200548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63359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11/25/2025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84305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11/25/2025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475764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11/25/2025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715055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48A87A34-81AB-432B-8DAE-1953F412C126}" type="datetimeFigureOut">
              <a:rPr lang="en-US" smtClean="0"/>
              <a:t>11/25/2025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34398908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846505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689395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48A87A34-81AB-432B-8DAE-1953F412C126}" type="datetimeFigureOut">
              <a:rPr lang="en-US" smtClean="0"/>
              <a:pPr/>
              <a:t>11/25/2025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3753418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pPr/>
              <a:t>11/25/2025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450287772"/>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48A87A34-81AB-432B-8DAE-1953F412C126}" type="datetimeFigureOut">
              <a:rPr lang="en-US" smtClean="0"/>
              <a:pPr/>
              <a:t>11/25/2025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6D22F896-40B5-4ADD-8801-0D06FADFA09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182988010"/>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471055"/>
            <a:ext cx="11029616" cy="1620981"/>
          </a:xfrm>
        </p:spPr>
        <p:txBody>
          <a:bodyPr>
            <a:noAutofit/>
          </a:bodyPr>
          <a:lstStyle/>
          <a:p>
            <a:pPr algn="ctr"/>
            <a:r>
              <a:rPr lang="en-IN" sz="3600" dirty="0" smtClean="0">
                <a:ln w="0"/>
                <a:effectLst>
                  <a:outerShdw blurRad="38100" dist="19050" dir="2700000" algn="tl" rotWithShape="0">
                    <a:schemeClr val="dk1">
                      <a:alpha val="40000"/>
                    </a:schemeClr>
                  </a:outerShdw>
                </a:effectLst>
                <a:latin typeface="Algerian" panose="04020705040A02060702" pitchFamily="82" charset="0"/>
              </a:rPr>
              <a:t>Title:- library MANAGEMENT SYSTEM</a:t>
            </a:r>
            <a:br>
              <a:rPr lang="en-IN" sz="3600" dirty="0" smtClean="0">
                <a:ln w="0"/>
                <a:effectLst>
                  <a:outerShdw blurRad="38100" dist="19050" dir="2700000" algn="tl" rotWithShape="0">
                    <a:schemeClr val="dk1">
                      <a:alpha val="40000"/>
                    </a:schemeClr>
                  </a:outerShdw>
                </a:effectLst>
                <a:latin typeface="Algerian" panose="04020705040A02060702" pitchFamily="82" charset="0"/>
              </a:rPr>
            </a:br>
            <a:endParaRPr lang="en-IN" sz="3600" dirty="0"/>
          </a:p>
        </p:txBody>
      </p:sp>
      <p:sp>
        <p:nvSpPr>
          <p:cNvPr id="3" name="Content Placeholder 2"/>
          <p:cNvSpPr>
            <a:spLocks noGrp="1"/>
          </p:cNvSpPr>
          <p:nvPr>
            <p:ph idx="1"/>
          </p:nvPr>
        </p:nvSpPr>
        <p:spPr>
          <a:xfrm>
            <a:off x="457200" y="1981200"/>
            <a:ext cx="10439397" cy="4987635"/>
          </a:xfrm>
        </p:spPr>
        <p:txBody>
          <a:bodyPr>
            <a:noAutofit/>
          </a:bodyPr>
          <a:lstStyle/>
          <a:p>
            <a:r>
              <a:rPr lang="en-IN" sz="2000" dirty="0" smtClean="0">
                <a:latin typeface="Arial Rounded MT Bold" panose="020F0704030504030204" pitchFamily="34" charset="0"/>
              </a:rPr>
              <a:t>Created By :-</a:t>
            </a:r>
          </a:p>
          <a:p>
            <a:pPr marL="285750" indent="-285750">
              <a:buFont typeface="Wingdings" panose="05000000000000000000" pitchFamily="2" charset="2"/>
              <a:buChar char="Ø"/>
            </a:pPr>
            <a:r>
              <a:rPr lang="en-IN" sz="2000" dirty="0" smtClean="0">
                <a:latin typeface="Arial Rounded MT Bold" panose="020F0704030504030204" pitchFamily="34" charset="0"/>
              </a:rPr>
              <a:t>Shankar Kumar </a:t>
            </a:r>
            <a:r>
              <a:rPr lang="en-IN" sz="2000" dirty="0" err="1" smtClean="0">
                <a:latin typeface="Arial Rounded MT Bold" panose="020F0704030504030204" pitchFamily="34" charset="0"/>
              </a:rPr>
              <a:t>Dhar</a:t>
            </a:r>
            <a:endParaRPr lang="en-IN" sz="2000" dirty="0" smtClean="0">
              <a:latin typeface="Arial Rounded MT Bold" panose="020F0704030504030204" pitchFamily="34" charset="0"/>
            </a:endParaRPr>
          </a:p>
          <a:p>
            <a:pPr marL="285750" indent="-285750">
              <a:buFont typeface="Wingdings" panose="05000000000000000000" pitchFamily="2" charset="2"/>
              <a:buChar char="Ø"/>
            </a:pPr>
            <a:r>
              <a:rPr lang="en-IN" sz="2000" dirty="0" smtClean="0"/>
              <a:t>Roll-23CS2061135</a:t>
            </a:r>
            <a:endParaRPr lang="en-IN" sz="2000" dirty="0" smtClean="0">
              <a:latin typeface="Arial Rounded MT Bold" panose="020F0704030504030204" pitchFamily="34" charset="0"/>
            </a:endParaRPr>
          </a:p>
          <a:p>
            <a:pPr marL="285750" indent="-285750">
              <a:buFont typeface="Wingdings" panose="05000000000000000000" pitchFamily="2" charset="2"/>
              <a:buChar char="Ø"/>
            </a:pPr>
            <a:r>
              <a:rPr lang="en-IN" sz="2000" dirty="0" err="1" smtClean="0">
                <a:latin typeface="Arial Rounded MT Bold" panose="020F0704030504030204" pitchFamily="34" charset="0"/>
              </a:rPr>
              <a:t>Somnath</a:t>
            </a:r>
            <a:r>
              <a:rPr lang="en-IN" sz="2000" dirty="0" smtClean="0">
                <a:latin typeface="Arial Rounded MT Bold" panose="020F0704030504030204" pitchFamily="34" charset="0"/>
              </a:rPr>
              <a:t> Ghosh</a:t>
            </a:r>
          </a:p>
          <a:p>
            <a:pPr marL="285750" indent="-285750">
              <a:buFont typeface="Wingdings" panose="05000000000000000000" pitchFamily="2" charset="2"/>
              <a:buChar char="Ø"/>
            </a:pPr>
            <a:r>
              <a:rPr lang="en-IN" sz="2000" dirty="0" smtClean="0"/>
              <a:t>Roll-23CS2061151</a:t>
            </a:r>
            <a:endParaRPr lang="en-IN" sz="2000" dirty="0" smtClean="0">
              <a:latin typeface="Arial Rounded MT Bold" panose="020F0704030504030204" pitchFamily="34" charset="0"/>
            </a:endParaRPr>
          </a:p>
          <a:p>
            <a:pPr marL="285750" indent="-285750">
              <a:buFont typeface="Wingdings" panose="05000000000000000000" pitchFamily="2" charset="2"/>
              <a:buChar char="Ø"/>
            </a:pPr>
            <a:r>
              <a:rPr lang="en-IN" sz="2000" dirty="0" err="1" smtClean="0">
                <a:latin typeface="Arial Rounded MT Bold" panose="020F0704030504030204" pitchFamily="34" charset="0"/>
              </a:rPr>
              <a:t>Shubhasish</a:t>
            </a:r>
            <a:r>
              <a:rPr lang="en-IN" sz="2000" dirty="0" smtClean="0">
                <a:latin typeface="Arial Rounded MT Bold" panose="020F0704030504030204" pitchFamily="34" charset="0"/>
              </a:rPr>
              <a:t> Ghosh</a:t>
            </a:r>
          </a:p>
          <a:p>
            <a:pPr marL="285750" indent="-285750">
              <a:buFont typeface="Wingdings" panose="05000000000000000000" pitchFamily="2" charset="2"/>
              <a:buChar char="Ø"/>
            </a:pPr>
            <a:r>
              <a:rPr lang="en-IN" sz="2000" dirty="0" smtClean="0"/>
              <a:t>Roll-23CS2061140</a:t>
            </a:r>
            <a:endParaRPr lang="en-IN" sz="2000" dirty="0" smtClean="0">
              <a:latin typeface="Arial Rounded MT Bold" panose="020F0704030504030204" pitchFamily="34" charset="0"/>
            </a:endParaRPr>
          </a:p>
          <a:p>
            <a:pPr marL="285750" indent="-285750">
              <a:buFont typeface="Wingdings" panose="05000000000000000000" pitchFamily="2" charset="2"/>
              <a:buChar char="Ø"/>
            </a:pPr>
            <a:r>
              <a:rPr lang="en-IN" sz="2000" dirty="0" err="1" smtClean="0">
                <a:latin typeface="Arial Rounded MT Bold" panose="020F0704030504030204" pitchFamily="34" charset="0"/>
              </a:rPr>
              <a:t>Sekh</a:t>
            </a:r>
            <a:r>
              <a:rPr lang="en-IN" sz="2000" dirty="0" smtClean="0">
                <a:latin typeface="Arial Rounded MT Bold" panose="020F0704030504030204" pitchFamily="34" charset="0"/>
              </a:rPr>
              <a:t> </a:t>
            </a:r>
            <a:r>
              <a:rPr lang="en-IN" sz="2000" dirty="0" err="1" smtClean="0">
                <a:latin typeface="Arial Rounded MT Bold" panose="020F0704030504030204" pitchFamily="34" charset="0"/>
              </a:rPr>
              <a:t>Miraj</a:t>
            </a:r>
            <a:r>
              <a:rPr lang="en-IN" sz="2000" dirty="0" smtClean="0">
                <a:latin typeface="Arial Rounded MT Bold" panose="020F0704030504030204" pitchFamily="34" charset="0"/>
              </a:rPr>
              <a:t> Uddin</a:t>
            </a:r>
          </a:p>
          <a:p>
            <a:pPr marL="285750" indent="-285750">
              <a:buFont typeface="Wingdings" panose="05000000000000000000" pitchFamily="2" charset="2"/>
              <a:buChar char="Ø"/>
            </a:pPr>
            <a:r>
              <a:rPr lang="en-IN" sz="2000" dirty="0" smtClean="0"/>
              <a:t>Roll-23CS2061134</a:t>
            </a:r>
            <a:endParaRPr lang="en-IN" sz="2000" dirty="0" smtClean="0">
              <a:latin typeface="Arial Rounded MT Bold" panose="020F0704030504030204" pitchFamily="34" charset="0"/>
            </a:endParaRPr>
          </a:p>
          <a:p>
            <a:pPr marL="285750" indent="-285750">
              <a:buFont typeface="Wingdings" panose="05000000000000000000" pitchFamily="2" charset="2"/>
              <a:buChar char="Ø"/>
            </a:pPr>
            <a:r>
              <a:rPr lang="en-IN" sz="2000" dirty="0" err="1" smtClean="0">
                <a:latin typeface="Arial Rounded MT Bold" panose="020F0704030504030204" pitchFamily="34" charset="0"/>
              </a:rPr>
              <a:t>Soumorick</a:t>
            </a:r>
            <a:r>
              <a:rPr lang="en-IN" sz="2000" dirty="0" smtClean="0">
                <a:latin typeface="Arial Rounded MT Bold" panose="020F0704030504030204" pitchFamily="34" charset="0"/>
              </a:rPr>
              <a:t> Bag</a:t>
            </a:r>
          </a:p>
          <a:p>
            <a:pPr marL="285750" indent="-285750">
              <a:buFont typeface="Wingdings" panose="05000000000000000000" pitchFamily="2" charset="2"/>
              <a:buChar char="Ø"/>
            </a:pPr>
            <a:r>
              <a:rPr lang="en-IN" sz="2000" dirty="0" smtClean="0"/>
              <a:t>Roll-23CS2061157</a:t>
            </a:r>
            <a:endParaRPr lang="en-IN" sz="2000" dirty="0" smtClean="0">
              <a:latin typeface="Arial Rounded MT Bold" panose="020F0704030504030204" pitchFamily="34" charset="0"/>
            </a:endParaRPr>
          </a:p>
          <a:p>
            <a:endParaRPr lang="en-IN"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9854" y="2529752"/>
            <a:ext cx="5071463" cy="3374828"/>
          </a:xfrm>
          <a:prstGeom prst="rect">
            <a:avLst/>
          </a:prstGeom>
        </p:spPr>
      </p:pic>
    </p:spTree>
    <p:extLst>
      <p:ext uri="{BB962C8B-B14F-4D97-AF65-F5344CB8AC3E}">
        <p14:creationId xmlns:p14="http://schemas.microsoft.com/office/powerpoint/2010/main" val="9572144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821844"/>
          </a:xfrm>
        </p:spPr>
        <p:txBody>
          <a:bodyPr/>
          <a:lstStyle/>
          <a:p>
            <a:pPr algn="ctr"/>
            <a:r>
              <a:rPr lang="en-IN" b="1" dirty="0" smtClean="0">
                <a:latin typeface="Times New Roman" panose="02020603050405020304" pitchFamily="18" charset="0"/>
                <a:cs typeface="Times New Roman" panose="02020603050405020304" pitchFamily="18" charset="0"/>
              </a:rPr>
              <a:t>TOPIC OUTLINE</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81192" y="2180496"/>
            <a:ext cx="11029615" cy="4677504"/>
          </a:xfrm>
        </p:spPr>
        <p:txBody>
          <a:bodyPr>
            <a:normAutofit/>
          </a:bodyPr>
          <a:lstStyle/>
          <a:p>
            <a:pPr marL="0" indent="0">
              <a:buNone/>
            </a:pPr>
            <a:r>
              <a:rPr lang="en-IN" sz="2400" b="1" dirty="0" smtClean="0">
                <a:latin typeface="Bahnschrift" panose="020B0502040204020203" pitchFamily="34" charset="0"/>
              </a:rPr>
              <a:t>1. Introduction</a:t>
            </a:r>
          </a:p>
          <a:p>
            <a:pPr marL="0" indent="0">
              <a:buNone/>
            </a:pPr>
            <a:r>
              <a:rPr lang="en-IN" sz="2400" b="1" dirty="0" smtClean="0">
                <a:latin typeface="Bahnschrift" panose="020B0502040204020203" pitchFamily="34" charset="0"/>
              </a:rPr>
              <a:t>2. Objective</a:t>
            </a:r>
          </a:p>
          <a:p>
            <a:pPr marL="0" indent="0">
              <a:buNone/>
            </a:pPr>
            <a:r>
              <a:rPr lang="en-IN" sz="2400" b="1" dirty="0" smtClean="0">
                <a:latin typeface="Bahnschrift" panose="020B0502040204020203" pitchFamily="34" charset="0"/>
              </a:rPr>
              <a:t>3. Advanced Features</a:t>
            </a:r>
          </a:p>
          <a:p>
            <a:pPr marL="0" indent="0">
              <a:buNone/>
            </a:pPr>
            <a:r>
              <a:rPr lang="en-IN" sz="2400" b="1" dirty="0" smtClean="0">
                <a:latin typeface="Bahnschrift" panose="020B0502040204020203" pitchFamily="34" charset="0"/>
              </a:rPr>
              <a:t>4. System Requirement</a:t>
            </a:r>
          </a:p>
          <a:p>
            <a:pPr marL="0" indent="0">
              <a:buNone/>
            </a:pPr>
            <a:r>
              <a:rPr lang="en-IN" sz="2400" b="1" dirty="0">
                <a:latin typeface="Bahnschrift" panose="020B0502040204020203" pitchFamily="34" charset="0"/>
              </a:rPr>
              <a:t>5</a:t>
            </a:r>
            <a:r>
              <a:rPr lang="en-IN" sz="2400" b="1" dirty="0" smtClean="0">
                <a:latin typeface="Bahnschrift" panose="020B0502040204020203" pitchFamily="34" charset="0"/>
              </a:rPr>
              <a:t>. Future Scope</a:t>
            </a:r>
          </a:p>
          <a:p>
            <a:pPr marL="0" indent="0">
              <a:buNone/>
            </a:pPr>
            <a:r>
              <a:rPr lang="en-IN" sz="2400" b="1" dirty="0">
                <a:latin typeface="Bahnschrift" panose="020B0502040204020203" pitchFamily="34" charset="0"/>
              </a:rPr>
              <a:t>6</a:t>
            </a:r>
            <a:r>
              <a:rPr lang="en-IN" sz="2400" b="1" dirty="0" smtClean="0">
                <a:latin typeface="Bahnschrift" panose="020B0502040204020203" pitchFamily="34" charset="0"/>
              </a:rPr>
              <a:t>. Conclusion </a:t>
            </a:r>
          </a:p>
          <a:p>
            <a:pPr marL="0" indent="0">
              <a:buNone/>
            </a:pPr>
            <a:r>
              <a:rPr lang="en-IN" sz="2400" b="1" dirty="0">
                <a:latin typeface="Bahnschrift" panose="020B0502040204020203" pitchFamily="34" charset="0"/>
              </a:rPr>
              <a:t>7</a:t>
            </a:r>
            <a:r>
              <a:rPr lang="en-IN" sz="2400" b="1" dirty="0" smtClean="0">
                <a:latin typeface="Bahnschrift" panose="020B0502040204020203" pitchFamily="34" charset="0"/>
              </a:rPr>
              <a:t>. Thank you</a:t>
            </a:r>
          </a:p>
          <a:p>
            <a:endParaRPr lang="en-IN" sz="2400" b="1" dirty="0" smtClean="0">
              <a:latin typeface="Bahnschrift" panose="020B0502040204020203" pitchFamily="34" charset="0"/>
            </a:endParaRPr>
          </a:p>
          <a:p>
            <a:endParaRPr lang="en-IN" sz="2400" dirty="0"/>
          </a:p>
        </p:txBody>
      </p:sp>
    </p:spTree>
    <p:extLst>
      <p:ext uri="{BB962C8B-B14F-4D97-AF65-F5344CB8AC3E}">
        <p14:creationId xmlns:p14="http://schemas.microsoft.com/office/powerpoint/2010/main" val="11086961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3671"/>
            <a:ext cx="10515600" cy="1241605"/>
          </a:xfrm>
        </p:spPr>
        <p:txBody>
          <a:bodyPr>
            <a:normAutofit/>
          </a:bodyPr>
          <a:lstStyle/>
          <a:p>
            <a:pPr algn="ctr"/>
            <a:r>
              <a:rPr lang="en-IN" sz="4000" b="1" dirty="0" smtClean="0">
                <a:latin typeface="Times New Roman" panose="02020603050405020304" pitchFamily="18" charset="0"/>
                <a:cs typeface="Times New Roman" panose="02020603050405020304" pitchFamily="18" charset="0"/>
              </a:rPr>
              <a:t>INTRODUCTION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2770910"/>
            <a:ext cx="10515600" cy="3419908"/>
          </a:xfrm>
        </p:spPr>
        <p:txBody>
          <a:bodyPr>
            <a:normAutofit/>
          </a:bodyPr>
          <a:lstStyle/>
          <a:p>
            <a:r>
              <a:rPr lang="en-US" sz="2400" dirty="0" smtClean="0"/>
              <a:t>A Library Management System is a tool that helps libraries run smoothly by organizing books, users, and everyday tasks in one place. Instead of handling everything manually, the system makes it easier to issue books, track returns, manage records, and find information quickly. It saves time for both librarians and readers, reduces errors, and creates a more efficient and user-friendly library experience.</a:t>
            </a:r>
            <a:endParaRPr lang="en-IN" sz="2400" dirty="0"/>
          </a:p>
        </p:txBody>
      </p:sp>
    </p:spTree>
    <p:extLst>
      <p:ext uri="{BB962C8B-B14F-4D97-AF65-F5344CB8AC3E}">
        <p14:creationId xmlns:p14="http://schemas.microsoft.com/office/powerpoint/2010/main" val="20004981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b="1" dirty="0" smtClean="0">
                <a:latin typeface="Times New Roman" panose="02020603050405020304" pitchFamily="18" charset="0"/>
                <a:cs typeface="Times New Roman" panose="02020603050405020304" pitchFamily="18" charset="0"/>
              </a:rPr>
              <a:t>OBJECTIVE</a:t>
            </a:r>
            <a:endParaRPr lang="en-IN" sz="4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800" dirty="0" smtClean="0"/>
              <a:t>The main objective of the Library Management System is to simplify and speed up everyday library tasks. It aims to keep book records organized, help users find books easily, reduce manual work, and ensure smooth book issuing and returning. Overall, the system makes library services more efficient, accurate, and convenient for both librarians and readers.</a:t>
            </a:r>
            <a:endParaRPr lang="en-IN" sz="2800" dirty="0"/>
          </a:p>
        </p:txBody>
      </p:sp>
    </p:spTree>
    <p:extLst>
      <p:ext uri="{BB962C8B-B14F-4D97-AF65-F5344CB8AC3E}">
        <p14:creationId xmlns:p14="http://schemas.microsoft.com/office/powerpoint/2010/main" val="15682394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800" b="1" dirty="0" smtClean="0">
                <a:latin typeface="Times New Roman" panose="02020603050405020304" pitchFamily="18" charset="0"/>
                <a:cs typeface="Times New Roman" panose="02020603050405020304" pitchFamily="18" charset="0"/>
              </a:rPr>
              <a:t>ADVANCED FEATURE</a:t>
            </a:r>
            <a:endParaRPr lang="en-IN" sz="4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95401" y="2216727"/>
            <a:ext cx="9912926" cy="4544291"/>
          </a:xfrm>
        </p:spPr>
        <p:txBody>
          <a:bodyPr>
            <a:noAutofit/>
          </a:bodyPr>
          <a:lstStyle/>
          <a:p>
            <a:r>
              <a:rPr lang="en-US" sz="2400" b="1" dirty="0" smtClean="0"/>
              <a:t>Smart Search: </a:t>
            </a:r>
            <a:r>
              <a:rPr lang="en-US" sz="2400" dirty="0" smtClean="0"/>
              <a:t>Helps users quickly find books by title, author, or keywords.</a:t>
            </a:r>
          </a:p>
          <a:p>
            <a:r>
              <a:rPr lang="en-US" sz="2400" b="1" dirty="0" smtClean="0"/>
              <a:t>Online Book Reservation:</a:t>
            </a:r>
            <a:r>
              <a:rPr lang="en-US" sz="2400" dirty="0" smtClean="0"/>
              <a:t> Allows readers to reserve books from anywhere.</a:t>
            </a:r>
          </a:p>
          <a:p>
            <a:r>
              <a:rPr lang="en-US" sz="2400" b="1" dirty="0" smtClean="0"/>
              <a:t>Automatic Notifications:</a:t>
            </a:r>
            <a:r>
              <a:rPr lang="en-US" sz="2400" dirty="0" smtClean="0"/>
              <a:t> Sends alerts for due dates, overdue books, or new arrivals.</a:t>
            </a:r>
          </a:p>
          <a:p>
            <a:r>
              <a:rPr lang="en-US" sz="2400" b="1" dirty="0" smtClean="0"/>
              <a:t>Digital Records: </a:t>
            </a:r>
            <a:r>
              <a:rPr lang="en-US" sz="2400" dirty="0" smtClean="0"/>
              <a:t>Keeps all book and user data organized and easily accessible.</a:t>
            </a:r>
          </a:p>
          <a:p>
            <a:r>
              <a:rPr lang="en-US" sz="2400" b="1" dirty="0" smtClean="0"/>
              <a:t>User Dashboard:</a:t>
            </a:r>
            <a:r>
              <a:rPr lang="en-US" sz="2400" dirty="0" smtClean="0"/>
              <a:t> Lets users check their borrowed books, history, and fines in one place.</a:t>
            </a:r>
            <a:endParaRPr lang="en-IN" sz="2400" dirty="0"/>
          </a:p>
        </p:txBody>
      </p:sp>
    </p:spTree>
    <p:extLst>
      <p:ext uri="{BB962C8B-B14F-4D97-AF65-F5344CB8AC3E}">
        <p14:creationId xmlns:p14="http://schemas.microsoft.com/office/powerpoint/2010/main" val="28511211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b="1" dirty="0" smtClean="0">
                <a:latin typeface="Times New Roman" panose="02020603050405020304" pitchFamily="18" charset="0"/>
                <a:cs typeface="Times New Roman" panose="02020603050405020304" pitchFamily="18" charset="0"/>
              </a:rPr>
              <a:t>SYSTEM REQUIRMENT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8546" y="2180496"/>
            <a:ext cx="12053454" cy="4483540"/>
          </a:xfrm>
        </p:spPr>
        <p:txBody>
          <a:bodyPr>
            <a:normAutofit/>
          </a:bodyPr>
          <a:lstStyle/>
          <a:p>
            <a:r>
              <a:rPr lang="en-IN" sz="2400" dirty="0" smtClean="0"/>
              <a:t>Operating System: Windows, Linux, or </a:t>
            </a:r>
            <a:r>
              <a:rPr lang="en-IN" sz="2400" dirty="0" err="1" smtClean="0"/>
              <a:t>macOS</a:t>
            </a:r>
            <a:r>
              <a:rPr lang="en-IN" sz="2400" dirty="0" smtClean="0"/>
              <a:t>.</a:t>
            </a:r>
          </a:p>
          <a:p>
            <a:r>
              <a:rPr lang="en-IN" sz="2400" dirty="0" smtClean="0"/>
              <a:t>Processor: Minimum dual-core for smooth performance.</a:t>
            </a:r>
          </a:p>
          <a:p>
            <a:r>
              <a:rPr lang="en-IN" sz="2400" dirty="0" smtClean="0"/>
              <a:t>RAM: At least 4 GB for efficient multitasking.</a:t>
            </a:r>
          </a:p>
          <a:p>
            <a:r>
              <a:rPr lang="en-IN" sz="2400" dirty="0" smtClean="0"/>
              <a:t>Storage: Around 500 MB of free space for installation.</a:t>
            </a:r>
          </a:p>
          <a:p>
            <a:r>
              <a:rPr lang="en-IN" sz="2400" dirty="0" smtClean="0"/>
              <a:t>Database: MySQL or any similar database system.</a:t>
            </a:r>
          </a:p>
          <a:p>
            <a:r>
              <a:rPr lang="en-IN" sz="2400" dirty="0"/>
              <a:t>B</a:t>
            </a:r>
            <a:r>
              <a:rPr lang="en-IN" sz="2400" dirty="0" smtClean="0"/>
              <a:t>rowser: Updated Chrome, Firefox, or any modern browser.</a:t>
            </a:r>
          </a:p>
          <a:p>
            <a:r>
              <a:rPr lang="en-IN" sz="2400" dirty="0" smtClean="0"/>
              <a:t>Internet: Required for online access and updates.</a:t>
            </a:r>
            <a:endParaRPr lang="en-IN" sz="24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8764" y="2803950"/>
            <a:ext cx="3845593" cy="3513723"/>
          </a:xfrm>
          <a:prstGeom prst="rect">
            <a:avLst/>
          </a:prstGeom>
        </p:spPr>
      </p:pic>
    </p:spTree>
    <p:extLst>
      <p:ext uri="{BB962C8B-B14F-4D97-AF65-F5344CB8AC3E}">
        <p14:creationId xmlns:p14="http://schemas.microsoft.com/office/powerpoint/2010/main" val="4879330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b="1" dirty="0" smtClean="0">
                <a:latin typeface="Times New Roman" panose="02020603050405020304" pitchFamily="18" charset="0"/>
                <a:cs typeface="Times New Roman" panose="02020603050405020304" pitchFamily="18" charset="0"/>
              </a:rPr>
              <a:t>FUTURE SCOP</a:t>
            </a:r>
            <a:endParaRPr lang="en-IN" sz="4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4692" y="2008909"/>
            <a:ext cx="11956472" cy="4946073"/>
          </a:xfrm>
        </p:spPr>
        <p:txBody>
          <a:bodyPr>
            <a:noAutofit/>
          </a:bodyPr>
          <a:lstStyle/>
          <a:p>
            <a:r>
              <a:rPr lang="en-US" sz="2000" b="1" dirty="0" smtClean="0"/>
              <a:t>Makes library work faster and more organized.</a:t>
            </a:r>
          </a:p>
          <a:p>
            <a:r>
              <a:rPr lang="en-US" sz="2000" b="1" dirty="0" smtClean="0"/>
              <a:t>Reduces manual tasks and human errors.</a:t>
            </a:r>
          </a:p>
          <a:p>
            <a:r>
              <a:rPr lang="en-US" sz="2000" b="1" dirty="0" smtClean="0"/>
              <a:t>Keeps records safe, updated, and easy to access.</a:t>
            </a:r>
          </a:p>
          <a:p>
            <a:r>
              <a:rPr lang="en-US" sz="2000" b="1" dirty="0" smtClean="0"/>
              <a:t>Improves overall library experience for both staff and readers.</a:t>
            </a:r>
          </a:p>
          <a:p>
            <a:r>
              <a:rPr lang="en-US" sz="2000" b="1" dirty="0" smtClean="0"/>
              <a:t>Saves time for librarians by automating daily tasks.</a:t>
            </a:r>
          </a:p>
          <a:p>
            <a:r>
              <a:rPr lang="en-US" sz="2000" b="1" dirty="0" smtClean="0"/>
              <a:t>Ensures smooth book issuing and returning.</a:t>
            </a:r>
          </a:p>
          <a:p>
            <a:r>
              <a:rPr lang="en-US" sz="2000" b="1" dirty="0" smtClean="0"/>
              <a:t>Makes tracking overdue books and fines simple.</a:t>
            </a:r>
          </a:p>
          <a:p>
            <a:r>
              <a:rPr lang="en-US" sz="2000" b="1" dirty="0" smtClean="0"/>
              <a:t>Supports better decision-making with clear reports.</a:t>
            </a:r>
          </a:p>
          <a:p>
            <a:r>
              <a:rPr lang="en-US" sz="2000" b="1" dirty="0" smtClean="0"/>
              <a:t>Helps libraries become more modern and user-friendly.</a:t>
            </a:r>
          </a:p>
          <a:p>
            <a:endParaRPr lang="en-IN" sz="20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52509" y="4004828"/>
            <a:ext cx="3928629" cy="2557849"/>
          </a:xfrm>
          <a:prstGeom prst="rect">
            <a:avLst/>
          </a:prstGeom>
        </p:spPr>
      </p:pic>
    </p:spTree>
    <p:extLst>
      <p:ext uri="{BB962C8B-B14F-4D97-AF65-F5344CB8AC3E}">
        <p14:creationId xmlns:p14="http://schemas.microsoft.com/office/powerpoint/2010/main" val="33805909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800" b="1" dirty="0" smtClean="0">
                <a:latin typeface="Times New Roman" panose="02020603050405020304" pitchFamily="18" charset="0"/>
                <a:cs typeface="Times New Roman" panose="02020603050405020304" pitchFamily="18" charset="0"/>
              </a:rPr>
              <a:t>CONCLUSION</a:t>
            </a:r>
            <a:endParaRPr lang="en-IN" sz="4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smtClean="0"/>
              <a:t>The Library Management System helps make library work easier, faster, and more organized. It reduces manual effort, keeps records accurate, and improves the experience for both librarians and readers. By bringing library tasks into a digital platform, the system supports smooth operations and encourages better access to information.</a:t>
            </a:r>
          </a:p>
          <a:p>
            <a:endParaRPr lang="en-IN" sz="2400" dirty="0"/>
          </a:p>
        </p:txBody>
      </p:sp>
    </p:spTree>
    <p:extLst>
      <p:ext uri="{BB962C8B-B14F-4D97-AF65-F5344CB8AC3E}">
        <p14:creationId xmlns:p14="http://schemas.microsoft.com/office/powerpoint/2010/main" val="30832355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85000">
              <a:srgbClr val="002060"/>
            </a:gs>
            <a:gs pos="77000">
              <a:srgbClr val="92D050"/>
            </a:gs>
            <a:gs pos="26000">
              <a:srgbClr val="FF2F2F"/>
            </a:gs>
            <a:gs pos="64000">
              <a:srgbClr val="FFFF00"/>
            </a:gs>
            <a:gs pos="0">
              <a:schemeClr val="tx1">
                <a:lumMod val="95000"/>
                <a:lumOff val="5000"/>
              </a:schemeClr>
            </a:gs>
          </a:gsLst>
          <a:lin ang="81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382" y="2692689"/>
            <a:ext cx="10515600" cy="1325563"/>
          </a:xfrm>
        </p:spPr>
        <p:txBody>
          <a:bodyPr>
            <a:noAutofit/>
          </a:bodyPr>
          <a:lstStyle/>
          <a:p>
            <a:r>
              <a:rPr lang="en-IN" sz="9600" dirty="0" smtClean="0">
                <a:latin typeface="Algerian" panose="04020705040A02060702" pitchFamily="82" charset="0"/>
              </a:rPr>
              <a:t>THAK YOU</a:t>
            </a:r>
            <a:endParaRPr lang="en-IN" sz="9600" dirty="0">
              <a:latin typeface="Algerian" panose="04020705040A02060702" pitchFamily="82" charset="0"/>
            </a:endParaRPr>
          </a:p>
        </p:txBody>
      </p:sp>
    </p:spTree>
    <p:extLst>
      <p:ext uri="{BB962C8B-B14F-4D97-AF65-F5344CB8AC3E}">
        <p14:creationId xmlns:p14="http://schemas.microsoft.com/office/powerpoint/2010/main" val="2634952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
  <TotalTime>51</TotalTime>
  <Words>476</Words>
  <Application>Microsoft Office PowerPoint</Application>
  <PresentationFormat>Widescreen</PresentationFormat>
  <Paragraphs>51</Paragraphs>
  <Slides>9</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9</vt:i4>
      </vt:variant>
    </vt:vector>
  </HeadingPairs>
  <TitlesOfParts>
    <vt:vector size="21" baseType="lpstr">
      <vt:lpstr>Algerian</vt:lpstr>
      <vt:lpstr>Arial</vt:lpstr>
      <vt:lpstr>Arial Rounded MT Bold</vt:lpstr>
      <vt:lpstr>Bahnschrift</vt:lpstr>
      <vt:lpstr>Calibri</vt:lpstr>
      <vt:lpstr>Calibri Light</vt:lpstr>
      <vt:lpstr>Gill Sans MT</vt:lpstr>
      <vt:lpstr>Times New Roman</vt:lpstr>
      <vt:lpstr>Wingdings</vt:lpstr>
      <vt:lpstr>Wingdings 2</vt:lpstr>
      <vt:lpstr>Office Theme</vt:lpstr>
      <vt:lpstr>Dividend</vt:lpstr>
      <vt:lpstr>Title:- library MANAGEMENT SYSTEM </vt:lpstr>
      <vt:lpstr>TOPIC OUTLINE</vt:lpstr>
      <vt:lpstr>INTRODUCTION</vt:lpstr>
      <vt:lpstr>OBJECTIVE</vt:lpstr>
      <vt:lpstr>ADVANCED FEATURE</vt:lpstr>
      <vt:lpstr>SYSTEM REQUIRMENT</vt:lpstr>
      <vt:lpstr>FUTURE SCOP</vt:lpstr>
      <vt:lpstr>CONCLUSION</vt:lpstr>
      <vt:lpstr>THAK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library MANAGEMENT SYSTEM</dc:title>
  <dc:creator>Microsoft account</dc:creator>
  <cp:lastModifiedBy>Microsoft account</cp:lastModifiedBy>
  <cp:revision>8</cp:revision>
  <dcterms:created xsi:type="dcterms:W3CDTF">2025-11-25T13:09:51Z</dcterms:created>
  <dcterms:modified xsi:type="dcterms:W3CDTF">2025-11-25T14:02:07Z</dcterms:modified>
</cp:coreProperties>
</file>